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 thuần (tỷ VND)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3000" u="none">
                    <a:solidFill>
                      <a:srgbClr val="1E3A8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T01</c:v>
                  </c:pt>
                  <c:pt idx="1">
                    <c:v>T02</c:v>
                  </c:pt>
                  <c:pt idx="2">
                    <c:v>T03</c:v>
                  </c:pt>
                  <c:pt idx="3">
                    <c:v>T04</c:v>
                  </c:pt>
                  <c:pt idx="4">
                    <c:v>T05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7.28</c:v>
                </c:pt>
                <c:pt idx="1">
                  <c:v>8.01</c:v>
                </c:pt>
                <c:pt idx="2">
                  <c:v>9.36</c:v>
                </c:pt>
                <c:pt idx="3">
                  <c:v>10.5</c:v>
                </c:pt>
                <c:pt idx="4">
                  <c:v>12.45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3000" u="none">
                  <a:solidFill>
                    <a:srgbClr val="1E3A8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Cơ cấu chi phí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22A06B"/>
              </a:solidFill>
              <a:effectLst/>
            </c:spPr>
          </c:dPt>
          <c:dPt>
            <c:idx val="2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3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3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3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3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Phí đối tác &amp; ngân hàng</c:v>
                </c:pt>
                <c:pt idx="1">
                  <c:v>Chi phí vận hành</c:v>
                </c:pt>
                <c:pt idx="2">
                  <c:v>Chi phí marketing</c:v>
                </c:pt>
                <c:pt idx="3">
                  <c:v>Khác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46</c:v>
                </c:pt>
                <c:pt idx="1">
                  <c:v>28</c:v>
                </c:pt>
                <c:pt idx="2">
                  <c:v>16</c:v>
                </c:pt>
                <c:pt idx="3">
                  <c:v>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3000">
              <a:solidFill>
                <a:srgbClr val="475569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PayKX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LỖ LÃI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THÁNG 05/2024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54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điện tử cho sinh viên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 thuần tăng 18,6% lên 12,45 tỷ VND, tăng liên tục từ T01 đến T05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828800"/>
          <a:ext cx="110642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Phí đối tác ngân hàng chiếm 46% tổng chi phí, lớn nhất trong 4 nhóm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828800"/>
          <a:ext cx="110642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Lợi nhuận sau thuế tăng 31,2% vì doanh thu tăng nhanh hơn chi phí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5440680" cy="2194560"/>
          </a:xfrm>
          <a:prstGeom prst="roundRect">
            <a:avLst>
              <a:gd name="adj" fmla="val 6250"/>
            </a:avLst>
          </a:prstGeom>
          <a:solidFill>
            <a:srgbClr val="EFF4FF"/>
          </a:solidFill>
          <a:ln w="12700">
            <a:solidFill>
              <a:srgbClr val="EFF4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 thuần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12,45</a:t>
            </a:r>
            <a:pPr indent="0" marL="0">
              <a:buNone/>
            </a:pPr>
            <a:r>
              <a:rPr lang="en-US" sz="3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tỷ VND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+18,6% so với T4/2024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440680" cy="2194560"/>
          </a:xfrm>
          <a:prstGeom prst="roundRect">
            <a:avLst>
              <a:gd name="adj" fmla="val 6250"/>
            </a:avLst>
          </a:prstGeom>
          <a:solidFill>
            <a:srgbClr val="EFF4FF"/>
          </a:solidFill>
          <a:ln w="12700">
            <a:solidFill>
              <a:srgbClr val="EFF4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965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chi phí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5603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2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7,28</a:t>
            </a:r>
            <a:pPr indent="0" marL="0">
              <a:buNone/>
            </a:pPr>
            <a:r>
              <a:rPr lang="en-US" sz="3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tỷ VND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3429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+12,1% so với T4/2024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5440680" cy="2194560"/>
          </a:xfrm>
          <a:prstGeom prst="roundRect">
            <a:avLst>
              <a:gd name="adj" fmla="val 6250"/>
            </a:avLst>
          </a:prstGeom>
          <a:solidFill>
            <a:srgbClr val="EFF4FF"/>
          </a:solidFill>
          <a:ln w="12700">
            <a:solidFill>
              <a:srgbClr val="EFF4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343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Lợi nhuận gộp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9377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5,17</a:t>
            </a:r>
            <a:pPr indent="0" marL="0">
              <a:buNone/>
            </a:pPr>
            <a:r>
              <a:rPr lang="en-US" sz="3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tỷ VND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806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+27,4% so với T4/2024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172200" y="4206240"/>
            <a:ext cx="5440680" cy="2194560"/>
          </a:xfrm>
          <a:prstGeom prst="roundRect">
            <a:avLst>
              <a:gd name="adj" fmla="val 6250"/>
            </a:avLst>
          </a:prstGeom>
          <a:solidFill>
            <a:srgbClr val="EFF4FF"/>
          </a:solidFill>
          <a:ln w="12700">
            <a:solidFill>
              <a:srgbClr val="EFF4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4343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 sau thuế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9377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2,89</a:t>
            </a:r>
            <a:pPr indent="0" marL="0">
              <a:buNone/>
            </a:pPr>
            <a:r>
              <a:rPr lang="en-US" sz="3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tỷ VND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5806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+31,2% so với T4/2024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Tăng trưởng doanh thu mạnh, tối ưu chi phí, lợi nhuận bứt phá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3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 12,45 tỷ VND (+18,6%)</a:t>
            </a:r>
            <a:endParaRPr lang="en-US" sz="3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3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Lợi nhuận sau thuế 2,89 tỷ VND (+31,2%)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2026-10-26T17:35:10Z</dcterms:created>
  <dcterms:modified xsi:type="dcterms:W3CDTF">2026-10-26T17:35:10Z</dcterms:modified>
</cp:coreProperties>
</file>